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323" r:id="rId8"/>
    <p:sldId id="318" r:id="rId9"/>
    <p:sldId id="321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964" y="6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0285" y="-3217487"/>
            <a:ext cx="6603439" cy="6798887"/>
          </a:xfrm>
        </p:spPr>
        <p:txBody>
          <a:bodyPr anchor="ctr"/>
          <a:lstStyle/>
          <a:p>
            <a:pPr algn="l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4400" dirty="0"/>
            </a:br>
            <a:r>
              <a:rPr lang="en-US" dirty="0"/>
              <a:t>Comprehensive Analysis of Gig Economy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</a:t>
            </a:r>
            <a:r>
              <a:rPr lang="en-US" sz="1600" dirty="0"/>
              <a:t>GROUP: FEATURE ENGINEERS</a:t>
            </a:r>
            <a:br>
              <a:rPr lang="en-US" sz="1600" dirty="0"/>
            </a:br>
            <a:r>
              <a:rPr lang="en-US" sz="1600" dirty="0"/>
              <a:t>       CAPSTONE PROJECT </a:t>
            </a:r>
            <a:br>
              <a:rPr lang="en-US" sz="1600" dirty="0"/>
            </a:br>
            <a:r>
              <a:rPr lang="en-US" sz="1600" dirty="0"/>
              <a:t>       09/08/2025</a:t>
            </a:r>
            <a:br>
              <a:rPr lang="en-US" sz="1600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256695"/>
            <a:ext cx="3294397" cy="873176"/>
          </a:xfrm>
        </p:spPr>
        <p:txBody>
          <a:bodyPr/>
          <a:lstStyle/>
          <a:p>
            <a:r>
              <a:rPr lang="en-US" cap="none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447800"/>
            <a:ext cx="7084423" cy="4594184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/>
                </a:solidFill>
              </a:rPr>
              <a:t>This project aims to analyze freelancing performance and earnings across various platforms and proffering insights and  recommendations to help businesses, freelancers, and policymakers make informed decisions.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 achieve this goal, several factors that influenced freelancing performance were considered such as experience level, hourly rate, freelancing platforms, job categories and earnings etc.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3" y="265439"/>
            <a:ext cx="7021285" cy="712748"/>
          </a:xfrm>
        </p:spPr>
        <p:txBody>
          <a:bodyPr/>
          <a:lstStyle/>
          <a:p>
            <a:r>
              <a:rPr lang="en-US" sz="2000" cap="none" dirty="0"/>
              <a:t>Our rationale for the project includes: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F4B1-5B27-08F5-C3A7-C7791933AD83}"/>
              </a:ext>
            </a:extLst>
          </p:cNvPr>
          <p:cNvSpPr txBox="1"/>
          <p:nvPr/>
        </p:nvSpPr>
        <p:spPr>
          <a:xfrm>
            <a:off x="620486" y="1132115"/>
            <a:ext cx="97644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Analyze freelancer job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Assess freelancer earnings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Identify key success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Develop interactive dashboards.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6ADE4-4612-81E1-974A-A57E79CAA9F1}"/>
              </a:ext>
            </a:extLst>
          </p:cNvPr>
          <p:cNvSpPr txBox="1"/>
          <p:nvPr/>
        </p:nvSpPr>
        <p:spPr>
          <a:xfrm>
            <a:off x="522515" y="3755571"/>
            <a:ext cx="70539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key-variables analyzed include: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earnings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Client ratings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Average Rehire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Average Completion rate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9604325-26AB-D189-BE05-E462502F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17752"/>
            <a:ext cx="2309128" cy="455840"/>
          </a:xfrm>
        </p:spPr>
        <p:txBody>
          <a:bodyPr/>
          <a:lstStyle/>
          <a:p>
            <a:r>
              <a:rPr lang="en-US" sz="2400" cap="none" dirty="0"/>
              <a:t>Dashboard</a:t>
            </a:r>
          </a:p>
        </p:txBody>
      </p:sp>
      <p:pic>
        <p:nvPicPr>
          <p:cNvPr id="4" name="Picture 3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795B216E-CF30-48EB-3CA3-B168AA653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75" y="933302"/>
            <a:ext cx="10783768" cy="585123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6F722-26D7-78A6-2CFC-796A4CB8C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6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90" y="-78583"/>
            <a:ext cx="9811780" cy="771526"/>
          </a:xfrm>
        </p:spPr>
        <p:txBody>
          <a:bodyPr/>
          <a:lstStyle/>
          <a:p>
            <a:r>
              <a:rPr lang="en-US" sz="2800" cap="none" dirty="0"/>
              <a:t>Data-driven Recommendations and 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8990" y="1077687"/>
            <a:ext cx="8650464" cy="5497284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solidFill>
                  <a:schemeClr val="tx1"/>
                </a:solidFill>
              </a:rPr>
              <a:t>1. Analysis shows that Graphic Design and App Development are the most profitable jobs.</a:t>
            </a:r>
          </a:p>
          <a:p>
            <a:pPr lvl="0"/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Recommendation:</a:t>
            </a:r>
            <a:r>
              <a:rPr lang="en-US" sz="2000" dirty="0">
                <a:solidFill>
                  <a:schemeClr val="tx1"/>
                </a:solidFill>
              </a:rPr>
              <a:t> New and aspiring freelancers should prioritize upskilling in Graphic Design or App Development for the best mix of income potential and job availability.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000" dirty="0">
                <a:solidFill>
                  <a:schemeClr val="tx1"/>
                </a:solidFill>
              </a:rPr>
              <a:t>2. Analysis shows that different platforms favor different experience levels in terms of pay, hourly rate, and client retention.</a:t>
            </a:r>
          </a:p>
          <a:p>
            <a:pPr lvl="0"/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Recommendation:</a:t>
            </a:r>
            <a:r>
              <a:rPr lang="en-US" sz="2000" dirty="0">
                <a:solidFill>
                  <a:schemeClr val="tx1"/>
                </a:solidFill>
              </a:rPr>
              <a:t> Freelancers should choose platforms strategically based on their experience level. For instance: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Start on </a:t>
            </a:r>
            <a:r>
              <a:rPr lang="en-US" sz="2000" dirty="0" err="1">
                <a:solidFill>
                  <a:schemeClr val="tx1"/>
                </a:solidFill>
              </a:rPr>
              <a:t>Toptal</a:t>
            </a:r>
            <a:r>
              <a:rPr lang="en-US" sz="2000" dirty="0">
                <a:solidFill>
                  <a:schemeClr val="tx1"/>
                </a:solidFill>
              </a:rPr>
              <a:t> because of its strong rehire rate for beginners.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Grow on Upwork for its highest intermediate pay and job continuity.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Scale on Fiverr or </a:t>
            </a:r>
            <a:r>
              <a:rPr lang="en-US" sz="2000" dirty="0" err="1">
                <a:solidFill>
                  <a:schemeClr val="tx1"/>
                </a:solidFill>
              </a:rPr>
              <a:t>PeoplePerHour</a:t>
            </a:r>
            <a:r>
              <a:rPr lang="en-US" sz="2000" dirty="0">
                <a:solidFill>
                  <a:schemeClr val="tx1"/>
                </a:solidFill>
              </a:rPr>
              <a:t> for its top expert pay and hourly rates.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1175656"/>
            <a:ext cx="9411350" cy="50889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3. Analysis confirms that Upwork, Fiverr, and Freelancer.com offer the highest total earnings across freelancer types.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Recommendation:</a:t>
            </a:r>
            <a:r>
              <a:rPr lang="en-US" sz="2000" dirty="0">
                <a:solidFill>
                  <a:schemeClr val="tx1"/>
                </a:solidFill>
              </a:rPr>
              <a:t> Freelancers seeking scalable income should aim to establish their presence on Upwork or Fiverr, as they have the highest earnings.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4. Analysis shows that Graphic Design and Web Development have the most completed jobs, helping freelancers build visibility and trust quickly.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Recommendation:</a:t>
            </a:r>
            <a:r>
              <a:rPr lang="en-US" sz="2000" dirty="0">
                <a:solidFill>
                  <a:schemeClr val="tx1"/>
                </a:solidFill>
              </a:rPr>
              <a:t> Beginners in tech should start with in-demand categories like Web Dev or Graphic Design to build their portfolio and improve rehire chances.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6052456" cy="3112618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</a:rPr>
              <a:t>Thank </a:t>
            </a:r>
            <a:b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5400" dirty="0">
                <a:solidFill>
                  <a:schemeClr val="tx1"/>
                </a:solidFill>
                <a:latin typeface="Algerian" panose="04020705040A02060702" pitchFamily="82" charset="0"/>
              </a:rPr>
              <a:t>you.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{02FE2004-A98A-4163-A76F-37EEE24D3981}TF8a9b5915-b8c7-461e-8cdd-693d48b5e32371f7b7e2_win32-4bf0b9a2ea37</Template>
  <TotalTime>103</TotalTime>
  <Words>355</Words>
  <Application>Microsoft Office PowerPoint</Application>
  <PresentationFormat>Widescreen</PresentationFormat>
  <Paragraphs>38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Sabon Next LT</vt:lpstr>
      <vt:lpstr>Custom</vt:lpstr>
      <vt:lpstr>         Comprehensive Analysis of Gig Economy      GROUP: FEATURE ENGINEERS        CAPSTONE PROJECT         09/08/2025  </vt:lpstr>
      <vt:lpstr>Introduction</vt:lpstr>
      <vt:lpstr>Our rationale for the project includes:</vt:lpstr>
      <vt:lpstr>Dashboard</vt:lpstr>
      <vt:lpstr>Data-driven Recommendations and Conclusion</vt:lpstr>
      <vt:lpstr>PowerPoint Presentation</vt:lpstr>
      <vt:lpstr>Thank 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Temitope Fajinmi</dc:creator>
  <cp:lastModifiedBy>Temitope Fajinmi</cp:lastModifiedBy>
  <cp:revision>12</cp:revision>
  <dcterms:created xsi:type="dcterms:W3CDTF">2025-07-30T15:40:28Z</dcterms:created>
  <dcterms:modified xsi:type="dcterms:W3CDTF">2025-07-30T17:24:20Z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